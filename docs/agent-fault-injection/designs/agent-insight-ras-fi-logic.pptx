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agent-insight-ras-fi-logic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agent-insight-ras-fi-logic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294132" y="116205"/>
            <a:ext cx="6281798" cy="490061"/>
            <a:chOff x="294132" y="116205"/>
            <a:chExt cx="6281798" cy="490061"/>
          </a:xfrm>
        </p:grpSpPr>
        <p:sp>
          <p:nvSpPr>
            <p:cNvPr id="2" name="TextBox 2"/>
            <p:cNvSpPr txBox="1"/>
            <p:nvPr/>
          </p:nvSpPr>
          <p:spPr>
            <a:xfrm>
              <a:off x="294132" y="116205"/>
              <a:ext cx="628179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AgentInsight · AgentRAS · AgentFI 逻辑关系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00038" y="444341"/>
              <a:ext cx="606551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Insight=平台(UI/API/库/Judge)· RAS=环内检测+恢复并旁路上报· FI=本机注入+采集，经 FI Client 与 Insight 双向编排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228600" y="666750"/>
            <a:ext cx="11734800" cy="1600200"/>
            <a:chOff x="228600" y="666750"/>
            <a:chExt cx="11734800" cy="1600200"/>
          </a:xfrm>
        </p:grpSpPr>
        <p:sp>
          <p:nvSpPr>
            <p:cNvPr id="5" name="Rectangle 5"/>
            <p:cNvSpPr/>
            <p:nvPr/>
          </p:nvSpPr>
          <p:spPr>
            <a:xfrm>
              <a:off x="228600" y="666750"/>
              <a:ext cx="11734800" cy="1600200"/>
            </a:xfrm>
            <a:prstGeom prst="rect">
              <a:avLst/>
            </a:prstGeom>
            <a:noFill/>
            <a:ln w="17145">
              <a:solidFill>
                <a:schemeClr val="accent2"/>
              </a:solidFill>
              <a:custDash>
                <a:ds d="388889" sp="222222"/>
              </a:custDash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375666" y="762952"/>
              <a:ext cx="21455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AgentInsight · 平台（服务端）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376238" y="958691"/>
              <a:ext cx="545036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做：观测 UI·FI 任务 UI·API/契约·Prisma·Judge·鉴权·配置/安装下发　　不做：宿主进程内检测/注入算法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381000" y="1162050"/>
              <a:ext cx="2667000" cy="914400"/>
            </a:xfrm>
            <a:prstGeom prst="rect">
              <a:avLst/>
            </a:prstGeom>
            <a:solidFill>
              <a:schemeClr val="lt2"/>
            </a:solidFill>
            <a:ln w="11430">
              <a:solidFill>
                <a:schemeClr val="accent2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383765" y="1334452"/>
              <a:ext cx="6614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产品面 UI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31499" y="1568291"/>
              <a:ext cx="156600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可靠性观测 /agent-ras/trace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42332" y="1739741"/>
              <a:ext cx="74433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FI 任务 / 轨迹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238500" y="1162050"/>
              <a:ext cx="2667000" cy="914400"/>
            </a:xfrm>
            <a:prstGeom prst="rect">
              <a:avLst/>
            </a:prstGeom>
            <a:solidFill>
              <a:schemeClr val="lt2"/>
            </a:solidFill>
            <a:ln w="11430">
              <a:solidFill>
                <a:schemeClr val="accent2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183424" y="1334452"/>
              <a:ext cx="7771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Insight API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004686" y="1568291"/>
              <a:ext cx="113462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① ingest / ② FI 控制面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136723" y="1739741"/>
              <a:ext cx="87055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③ collect-result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096000" y="1162050"/>
              <a:ext cx="2667000" cy="914400"/>
            </a:xfrm>
            <a:prstGeom prst="rect">
              <a:avLst/>
            </a:prstGeom>
            <a:solidFill>
              <a:schemeClr val="lt2"/>
            </a:solidFill>
            <a:ln w="11430">
              <a:solidFill>
                <a:schemeClr val="accent3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27329" y="1334452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权威数据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967021" y="1568291"/>
              <a:ext cx="92495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RasAnomalyEvent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879884" y="1739741"/>
              <a:ext cx="109923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Session·FI Task/Run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953500" y="1162050"/>
              <a:ext cx="2819400" cy="914400"/>
            </a:xfrm>
            <a:prstGeom prst="rect">
              <a:avLst/>
            </a:prstGeom>
            <a:solidFill>
              <a:schemeClr val="lt2"/>
            </a:solidFill>
            <a:ln w="11430">
              <a:solidFill>
                <a:schemeClr val="accent5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676106" y="1334452"/>
              <a:ext cx="13741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Judge / ras-bridge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027272" y="1568291"/>
              <a:ext cx="67185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注入结果评判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925163" y="1739741"/>
              <a:ext cx="8760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④ 激活后桥进观测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3048000" y="1619250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13335">
              <a:solidFill>
                <a:srgbClr val="94A3B8"/>
              </a:solidFill>
            </a:ln>
          </p:spPr>
        </p:sp>
        <p:sp>
          <p:nvSpPr>
            <p:cNvPr id="25" name="Polygon 25"/>
            <p:cNvSpPr/>
            <p:nvPr/>
          </p:nvSpPr>
          <p:spPr>
            <a:xfrm>
              <a:off x="3200400" y="1581150"/>
              <a:ext cx="95250" cy="76200"/>
            </a:xfrm>
            <a:custGeom>
              <a:avLst/>
              <a:gdLst/>
              <a:ahLst/>
              <a:cxnLst/>
              <a:rect l="l" t="t" r="r" b="b"/>
              <a:pathLst>
                <a:path w="95250" h="76200">
                  <a:moveTo>
                    <a:pt x="0" y="0"/>
                  </a:moveTo>
                  <a:lnTo>
                    <a:pt x="95250" y="381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  <p:sp>
          <p:nvSpPr>
            <p:cNvPr id="26" name="Line 26"/>
            <p:cNvSpPr/>
            <p:nvPr/>
          </p:nvSpPr>
          <p:spPr>
            <a:xfrm>
              <a:off x="5905500" y="1619250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13335">
              <a:solidFill>
                <a:srgbClr val="94A3B8"/>
              </a:solidFill>
            </a:ln>
          </p:spPr>
        </p:sp>
        <p:sp>
          <p:nvSpPr>
            <p:cNvPr id="27" name="Polygon 27"/>
            <p:cNvSpPr/>
            <p:nvPr/>
          </p:nvSpPr>
          <p:spPr>
            <a:xfrm>
              <a:off x="6057900" y="1581150"/>
              <a:ext cx="95250" cy="76200"/>
            </a:xfrm>
            <a:custGeom>
              <a:avLst/>
              <a:gdLst/>
              <a:ahLst/>
              <a:cxnLst/>
              <a:rect l="l" t="t" r="r" b="b"/>
              <a:pathLst>
                <a:path w="95250" h="76200">
                  <a:moveTo>
                    <a:pt x="0" y="0"/>
                  </a:moveTo>
                  <a:lnTo>
                    <a:pt x="95250" y="381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7429500" y="2076450"/>
              <a:ext cx="2933700" cy="95250"/>
            </a:xfrm>
            <a:custGeom>
              <a:avLst/>
              <a:gdLst/>
              <a:ahLst/>
              <a:cxnLst/>
              <a:rect l="l" t="t" r="r" b="b"/>
              <a:pathLst>
                <a:path w="2933700" h="95250">
                  <a:moveTo>
                    <a:pt x="2933700" y="0"/>
                  </a:moveTo>
                  <a:lnTo>
                    <a:pt x="2933700" y="95250"/>
                  </a:lnTo>
                  <a:lnTo>
                    <a:pt x="0" y="95250"/>
                  </a:lnTo>
                  <a:lnTo>
                    <a:pt x="0" y="0"/>
                  </a:lnTo>
                </a:path>
              </a:pathLst>
            </a:custGeom>
            <a:noFill/>
            <a:ln w="11430">
              <a:solidFill>
                <a:srgbClr val="94A3B8"/>
              </a:solidFill>
            </a:ln>
          </p:spPr>
        </p:sp>
        <p:sp>
          <p:nvSpPr>
            <p:cNvPr id="29" name="Polygon 29"/>
            <p:cNvSpPr/>
            <p:nvPr/>
          </p:nvSpPr>
          <p:spPr>
            <a:xfrm>
              <a:off x="7391400" y="200025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76200"/>
                  </a:moveTo>
                  <a:lnTo>
                    <a:pt x="38100" y="0"/>
                  </a:lnTo>
                  <a:lnTo>
                    <a:pt x="76200" y="762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3048000" y="2400300"/>
            <a:ext cx="6096000" cy="495300"/>
            <a:chOff x="3048000" y="2400300"/>
            <a:chExt cx="6096000" cy="495300"/>
          </a:xfrm>
        </p:grpSpPr>
        <p:sp>
          <p:nvSpPr>
            <p:cNvPr id="31" name="Rectangle 31"/>
            <p:cNvSpPr/>
            <p:nvPr/>
          </p:nvSpPr>
          <p:spPr>
            <a:xfrm>
              <a:off x="3048000" y="2400300"/>
              <a:ext cx="6096000" cy="495300"/>
            </a:xfrm>
            <a:prstGeom prst="rect">
              <a:avLst/>
            </a:prstGeom>
            <a:solidFill>
              <a:schemeClr val="lt2"/>
            </a:solidFill>
            <a:ln w="15240">
              <a:solidFill>
                <a:schemeClr val="accent6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694748" y="2496502"/>
              <a:ext cx="28025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Agent 宿主（共享部署位·非三产品之一）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119820" y="2692241"/>
              <a:ext cx="195236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opencode / xiaoo·真实会话与被测执行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228600" y="3048000"/>
            <a:ext cx="5715000" cy="2190750"/>
            <a:chOff x="228600" y="3048000"/>
            <a:chExt cx="5715000" cy="2190750"/>
          </a:xfrm>
        </p:grpSpPr>
        <p:sp>
          <p:nvSpPr>
            <p:cNvPr id="35" name="Rectangle 35"/>
            <p:cNvSpPr/>
            <p:nvPr/>
          </p:nvSpPr>
          <p:spPr>
            <a:xfrm>
              <a:off x="228600" y="3048000"/>
              <a:ext cx="5715000" cy="2190750"/>
            </a:xfrm>
            <a:prstGeom prst="rect">
              <a:avLst/>
            </a:prstGeom>
            <a:noFill/>
            <a:ln w="17145">
              <a:solidFill>
                <a:schemeClr val="accent3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75666" y="3163252"/>
              <a:ext cx="14681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AgentRAS · 功能模块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76238" y="3358991"/>
              <a:ext cx="279660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环内可靠性：检测·恢复·旁路上报·不含 UI/契约/Judge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381000" y="3581400"/>
              <a:ext cx="5410200" cy="742950"/>
            </a:xfrm>
            <a:prstGeom prst="rect">
              <a:avLst/>
            </a:prstGeom>
            <a:solidFill>
              <a:schemeClr val="lt2"/>
            </a:solidFill>
            <a:ln w="11430">
              <a:solidFill>
                <a:schemeClr val="accent3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950331" y="3723799"/>
              <a:ext cx="227153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Detector / Recovery / ras_embed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626970" y="3930491"/>
              <a:ext cx="291825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做：thinking-loop·repeat_tool·abort/notice/steering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932361" y="4101941"/>
              <a:ext cx="230747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决策在环内；恢复投递回宿主（不经 Insight）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381000" y="4457700"/>
              <a:ext cx="5410200" cy="609600"/>
            </a:xfrm>
            <a:prstGeom prst="rect">
              <a:avLst/>
            </a:prstGeom>
            <a:solidFill>
              <a:schemeClr val="lt2"/>
            </a:solidFill>
            <a:ln w="11430">
              <a:solidFill>
                <a:srgbClr val="CBD5E1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943890" y="4608195"/>
              <a:ext cx="228442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通道 ①·POST /api/ingest/ras-events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285852" y="4806791"/>
              <a:ext cx="160049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fail-open 旁路上报·不经 Judge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6248400" y="3048000"/>
            <a:ext cx="5715000" cy="2190750"/>
            <a:chOff x="6248400" y="3048000"/>
            <a:chExt cx="5715000" cy="2190750"/>
          </a:xfrm>
        </p:grpSpPr>
        <p:sp>
          <p:nvSpPr>
            <p:cNvPr id="46" name="Rectangle 46"/>
            <p:cNvSpPr/>
            <p:nvPr/>
          </p:nvSpPr>
          <p:spPr>
            <a:xfrm>
              <a:off x="6248400" y="3048000"/>
              <a:ext cx="5715000" cy="2190750"/>
            </a:xfrm>
            <a:prstGeom prst="rect">
              <a:avLst/>
            </a:prstGeom>
            <a:noFill/>
            <a:ln w="17145">
              <a:solidFill>
                <a:schemeClr val="accent5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395466" y="3163252"/>
              <a:ext cx="24618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AgentFI · 功能模块 + FI Client 角色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396038" y="3358991"/>
              <a:ext cx="302274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故障注入实验：认领·注入·采集回传·不含 UI/权威库/Judge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400800" y="3581400"/>
              <a:ext cx="2552700" cy="742950"/>
            </a:xfrm>
            <a:prstGeom prst="rect">
              <a:avLst/>
            </a:prstGeom>
            <a:solidFill>
              <a:schemeClr val="lt2"/>
            </a:solidFill>
            <a:ln w="11430">
              <a:solidFill>
                <a:schemeClr val="accent5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392805" y="3761899"/>
              <a:ext cx="56869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FI Client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015577" y="3987641"/>
              <a:ext cx="132314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heartbeat / claim / stop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161841" y="4140041"/>
              <a:ext cx="103061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回传 collect-result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9220200" y="3581400"/>
              <a:ext cx="2552700" cy="742950"/>
            </a:xfrm>
            <a:prstGeom prst="rect">
              <a:avLst/>
            </a:prstGeom>
            <a:solidFill>
              <a:schemeClr val="lt2"/>
            </a:solidFill>
            <a:ln w="11430">
              <a:solidFill>
                <a:schemeClr val="accent6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0204160" y="3761899"/>
              <a:ext cx="5847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agent-fi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041955" y="3987641"/>
              <a:ext cx="90919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catalog·五类注入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034592" y="4140041"/>
              <a:ext cx="92391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Adapter·CLI 采集</a:t>
              </a:r>
            </a:p>
          </p:txBody>
        </p:sp>
        <p:sp>
          <p:nvSpPr>
            <p:cNvPr id="57" name="Line 57"/>
            <p:cNvSpPr/>
            <p:nvPr/>
          </p:nvSpPr>
          <p:spPr>
            <a:xfrm>
              <a:off x="8953500" y="3952875"/>
              <a:ext cx="266700" cy="9525"/>
            </a:xfrm>
            <a:custGeom>
              <a:avLst/>
              <a:gdLst/>
              <a:ahLst/>
              <a:cxnLst/>
              <a:rect l="l" t="t" r="r" b="b"/>
              <a:pathLst>
                <a:path w="266700" h="9525">
                  <a:moveTo>
                    <a:pt x="0" y="0"/>
                  </a:moveTo>
                  <a:lnTo>
                    <a:pt x="266700" y="0"/>
                  </a:lnTo>
                </a:path>
              </a:pathLst>
            </a:custGeom>
            <a:noFill/>
            <a:ln w="13335">
              <a:solidFill>
                <a:schemeClr val="accent5"/>
              </a:solidFill>
            </a:ln>
          </p:spPr>
        </p:sp>
        <p:sp>
          <p:nvSpPr>
            <p:cNvPr id="58" name="Polygon 58"/>
            <p:cNvSpPr/>
            <p:nvPr/>
          </p:nvSpPr>
          <p:spPr>
            <a:xfrm>
              <a:off x="9182100" y="3914775"/>
              <a:ext cx="95250" cy="76200"/>
            </a:xfrm>
            <a:custGeom>
              <a:avLst/>
              <a:gdLst/>
              <a:ahLst/>
              <a:cxnLst/>
              <a:rect l="l" t="t" r="r" b="b"/>
              <a:pathLst>
                <a:path w="95250" h="76200">
                  <a:moveTo>
                    <a:pt x="0" y="0"/>
                  </a:moveTo>
                  <a:lnTo>
                    <a:pt x="95250" y="381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6400800" y="4457700"/>
              <a:ext cx="5410200" cy="609600"/>
            </a:xfrm>
            <a:prstGeom prst="rect">
              <a:avLst/>
            </a:prstGeom>
            <a:solidFill>
              <a:schemeClr val="lt2"/>
            </a:solidFill>
            <a:ln w="11430">
              <a:solidFill>
                <a:srgbClr val="CBD5E1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8178822" y="4608195"/>
              <a:ext cx="185415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通道 ②③·claim / collect-result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673725" y="4806791"/>
              <a:ext cx="286435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可选 ④ bridge → RasAnomalyEvent（激活且非 dry-run）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1404938" y="2019300"/>
            <a:ext cx="9091612" cy="2438400"/>
            <a:chOff x="1404938" y="2019300"/>
            <a:chExt cx="9091612" cy="2438400"/>
          </a:xfrm>
        </p:grpSpPr>
        <p:sp>
          <p:nvSpPr>
            <p:cNvPr id="63" name="Freeform 63"/>
            <p:cNvSpPr/>
            <p:nvPr/>
          </p:nvSpPr>
          <p:spPr>
            <a:xfrm>
              <a:off x="1905000" y="2647950"/>
              <a:ext cx="1143000" cy="933450"/>
            </a:xfrm>
            <a:custGeom>
              <a:avLst/>
              <a:gdLst/>
              <a:ahLst/>
              <a:cxnLst/>
              <a:rect l="l" t="t" r="r" b="b"/>
              <a:pathLst>
                <a:path w="1143000" h="933450">
                  <a:moveTo>
                    <a:pt x="1143000" y="0"/>
                  </a:moveTo>
                  <a:lnTo>
                    <a:pt x="0" y="0"/>
                  </a:lnTo>
                  <a:lnTo>
                    <a:pt x="0" y="933450"/>
                  </a:lnTo>
                </a:path>
              </a:pathLst>
            </a:custGeom>
            <a:noFill/>
            <a:ln w="14288">
              <a:solidFill>
                <a:schemeClr val="accent3"/>
              </a:solidFill>
            </a:ln>
          </p:spPr>
        </p:sp>
        <p:sp>
          <p:nvSpPr>
            <p:cNvPr id="64" name="Polygon 64"/>
            <p:cNvSpPr/>
            <p:nvPr/>
          </p:nvSpPr>
          <p:spPr>
            <a:xfrm>
              <a:off x="1866900" y="3543300"/>
              <a:ext cx="76200" cy="95250"/>
            </a:xfrm>
            <a:custGeom>
              <a:avLst/>
              <a:gdLst/>
              <a:ahLst/>
              <a:cxnLst/>
              <a:rect l="l" t="t" r="r" b="b"/>
              <a:pathLst>
                <a:path w="76200" h="95250">
                  <a:moveTo>
                    <a:pt x="0" y="0"/>
                  </a:moveTo>
                  <a:lnTo>
                    <a:pt x="38100" y="9525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1404938" y="3062288"/>
              <a:ext cx="54464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事件/hooks</a:t>
              </a:r>
            </a:p>
          </p:txBody>
        </p:sp>
        <p:sp>
          <p:nvSpPr>
            <p:cNvPr id="66" name="Freeform 66"/>
            <p:cNvSpPr/>
            <p:nvPr/>
          </p:nvSpPr>
          <p:spPr>
            <a:xfrm>
              <a:off x="2667000" y="2952750"/>
              <a:ext cx="1333500" cy="628650"/>
            </a:xfrm>
            <a:custGeom>
              <a:avLst/>
              <a:gdLst/>
              <a:ahLst/>
              <a:cxnLst/>
              <a:rect l="l" t="t" r="r" b="b"/>
              <a:pathLst>
                <a:path w="1333500" h="628650">
                  <a:moveTo>
                    <a:pt x="0" y="628650"/>
                  </a:moveTo>
                  <a:lnTo>
                    <a:pt x="0" y="0"/>
                  </a:lnTo>
                  <a:lnTo>
                    <a:pt x="1333500" y="0"/>
                  </a:lnTo>
                </a:path>
              </a:pathLst>
            </a:custGeom>
            <a:noFill/>
            <a:ln w="12382">
              <a:solidFill>
                <a:schemeClr val="accent3"/>
              </a:solidFill>
              <a:custDash>
                <a:ds d="307692" sp="230769"/>
              </a:custDash>
            </a:ln>
          </p:spPr>
        </p:sp>
        <p:sp>
          <p:nvSpPr>
            <p:cNvPr id="67" name="Polygon 67"/>
            <p:cNvSpPr/>
            <p:nvPr/>
          </p:nvSpPr>
          <p:spPr>
            <a:xfrm>
              <a:off x="3962400" y="2914650"/>
              <a:ext cx="95250" cy="76200"/>
            </a:xfrm>
            <a:custGeom>
              <a:avLst/>
              <a:gdLst/>
              <a:ahLst/>
              <a:cxnLst/>
              <a:rect l="l" t="t" r="r" b="b"/>
              <a:pathLst>
                <a:path w="95250" h="76200">
                  <a:moveTo>
                    <a:pt x="0" y="0"/>
                  </a:moveTo>
                  <a:lnTo>
                    <a:pt x="95250" y="381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2738438" y="3233738"/>
              <a:ext cx="41338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恢复投递</a:t>
              </a:r>
            </a:p>
          </p:txBody>
        </p:sp>
        <p:sp>
          <p:nvSpPr>
            <p:cNvPr id="69" name="Freeform 69"/>
            <p:cNvSpPr/>
            <p:nvPr/>
          </p:nvSpPr>
          <p:spPr>
            <a:xfrm>
              <a:off x="8001000" y="2952750"/>
              <a:ext cx="2495550" cy="628650"/>
            </a:xfrm>
            <a:custGeom>
              <a:avLst/>
              <a:gdLst/>
              <a:ahLst/>
              <a:cxnLst/>
              <a:rect l="l" t="t" r="r" b="b"/>
              <a:pathLst>
                <a:path w="2495550" h="628650">
                  <a:moveTo>
                    <a:pt x="2495550" y="628650"/>
                  </a:moveTo>
                  <a:lnTo>
                    <a:pt x="2495550" y="0"/>
                  </a:lnTo>
                  <a:lnTo>
                    <a:pt x="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70" name="Polygon 70"/>
            <p:cNvSpPr/>
            <p:nvPr/>
          </p:nvSpPr>
          <p:spPr>
            <a:xfrm>
              <a:off x="7943850" y="2914650"/>
              <a:ext cx="95250" cy="76200"/>
            </a:xfrm>
            <a:custGeom>
              <a:avLst/>
              <a:gdLst/>
              <a:ahLst/>
              <a:cxnLst/>
              <a:rect l="l" t="t" r="r" b="b"/>
              <a:pathLst>
                <a:path w="95250" h="76200">
                  <a:moveTo>
                    <a:pt x="95250" y="0"/>
                  </a:moveTo>
                  <a:lnTo>
                    <a:pt x="0" y="38100"/>
                  </a:lnTo>
                  <a:lnTo>
                    <a:pt x="95250" y="7620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8758238" y="3233738"/>
              <a:ext cx="41338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挂载驱动</a:t>
              </a:r>
            </a:p>
          </p:txBody>
        </p:sp>
        <p:sp>
          <p:nvSpPr>
            <p:cNvPr id="72" name="Freeform 72"/>
            <p:cNvSpPr/>
            <p:nvPr/>
          </p:nvSpPr>
          <p:spPr>
            <a:xfrm>
              <a:off x="2667000" y="2076450"/>
              <a:ext cx="1905000" cy="2381250"/>
            </a:xfrm>
            <a:custGeom>
              <a:avLst/>
              <a:gdLst/>
              <a:ahLst/>
              <a:cxnLst/>
              <a:rect l="l" t="t" r="r" b="b"/>
              <a:pathLst>
                <a:path w="1905000" h="2381250">
                  <a:moveTo>
                    <a:pt x="0" y="2381250"/>
                  </a:moveTo>
                  <a:cubicBezTo>
                    <a:pt x="0" y="304800"/>
                    <a:pt x="1905000" y="304800"/>
                    <a:pt x="1905000" y="0"/>
                  </a:cubicBezTo>
                </a:path>
              </a:pathLst>
            </a:custGeom>
            <a:noFill/>
            <a:ln w="15240">
              <a:solidFill>
                <a:schemeClr val="accent3"/>
              </a:solidFill>
            </a:ln>
          </p:spPr>
        </p:sp>
        <p:sp>
          <p:nvSpPr>
            <p:cNvPr id="73" name="Polygon 73"/>
            <p:cNvSpPr/>
            <p:nvPr/>
          </p:nvSpPr>
          <p:spPr>
            <a:xfrm>
              <a:off x="4533900" y="2019300"/>
              <a:ext cx="76200" cy="95250"/>
            </a:xfrm>
            <a:custGeom>
              <a:avLst/>
              <a:gdLst/>
              <a:ahLst/>
              <a:cxnLst/>
              <a:rect l="l" t="t" r="r" b="b"/>
              <a:pathLst>
                <a:path w="76200" h="95250">
                  <a:moveTo>
                    <a:pt x="0" y="95250"/>
                  </a:moveTo>
                  <a:lnTo>
                    <a:pt x="38100" y="0"/>
                  </a:lnTo>
                  <a:lnTo>
                    <a:pt x="76200" y="9525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2852738" y="226504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①</a:t>
              </a:r>
            </a:p>
          </p:txBody>
        </p:sp>
        <p:sp>
          <p:nvSpPr>
            <p:cNvPr id="75" name="Freeform 75"/>
            <p:cNvSpPr/>
            <p:nvPr/>
          </p:nvSpPr>
          <p:spPr>
            <a:xfrm>
              <a:off x="4953000" y="2076450"/>
              <a:ext cx="2724150" cy="2381250"/>
            </a:xfrm>
            <a:custGeom>
              <a:avLst/>
              <a:gdLst/>
              <a:ahLst/>
              <a:cxnLst/>
              <a:rect l="l" t="t" r="r" b="b"/>
              <a:pathLst>
                <a:path w="2724150" h="2381250">
                  <a:moveTo>
                    <a:pt x="2724150" y="2381250"/>
                  </a:moveTo>
                  <a:cubicBezTo>
                    <a:pt x="2724150" y="304800"/>
                    <a:pt x="0" y="304800"/>
                    <a:pt x="0" y="0"/>
                  </a:cubicBezTo>
                </a:path>
              </a:pathLst>
            </a:custGeom>
            <a:noFill/>
            <a:ln w="15240">
              <a:solidFill>
                <a:schemeClr val="accent5"/>
              </a:solidFill>
            </a:ln>
          </p:spPr>
        </p:sp>
        <p:sp>
          <p:nvSpPr>
            <p:cNvPr id="76" name="Polygon 76"/>
            <p:cNvSpPr/>
            <p:nvPr/>
          </p:nvSpPr>
          <p:spPr>
            <a:xfrm>
              <a:off x="4914900" y="2019300"/>
              <a:ext cx="76200" cy="95250"/>
            </a:xfrm>
            <a:custGeom>
              <a:avLst/>
              <a:gdLst/>
              <a:ahLst/>
              <a:cxnLst/>
              <a:rect l="l" t="t" r="r" b="b"/>
              <a:pathLst>
                <a:path w="76200" h="95250">
                  <a:moveTo>
                    <a:pt x="0" y="95250"/>
                  </a:moveTo>
                  <a:lnTo>
                    <a:pt x="38100" y="0"/>
                  </a:lnTo>
                  <a:lnTo>
                    <a:pt x="76200" y="9525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6091238" y="226504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②③</a:t>
              </a:r>
            </a:p>
          </p:txBody>
        </p:sp>
        <p:sp>
          <p:nvSpPr>
            <p:cNvPr id="78" name="Freeform 78"/>
            <p:cNvSpPr/>
            <p:nvPr/>
          </p:nvSpPr>
          <p:spPr>
            <a:xfrm>
              <a:off x="4762500" y="2076450"/>
              <a:ext cx="2914650" cy="1504950"/>
            </a:xfrm>
            <a:custGeom>
              <a:avLst/>
              <a:gdLst/>
              <a:ahLst/>
              <a:cxnLst/>
              <a:rect l="l" t="t" r="r" b="b"/>
              <a:pathLst>
                <a:path w="2914650" h="1504950">
                  <a:moveTo>
                    <a:pt x="0" y="0"/>
                  </a:moveTo>
                  <a:cubicBezTo>
                    <a:pt x="571500" y="590550"/>
                    <a:pt x="2286000" y="1066800"/>
                    <a:pt x="2914650" y="1504950"/>
                  </a:cubicBezTo>
                </a:path>
              </a:pathLst>
            </a:custGeom>
            <a:noFill/>
            <a:ln w="11430">
              <a:solidFill>
                <a:schemeClr val="accent2"/>
              </a:solidFill>
              <a:custDash>
                <a:ds d="416667" sp="333333"/>
              </a:custDash>
            </a:ln>
          </p:spPr>
        </p:sp>
        <p:sp>
          <p:nvSpPr>
            <p:cNvPr id="79" name="Polygon 79"/>
            <p:cNvSpPr/>
            <p:nvPr/>
          </p:nvSpPr>
          <p:spPr>
            <a:xfrm>
              <a:off x="7639050" y="3543300"/>
              <a:ext cx="95250" cy="76200"/>
            </a:xfrm>
            <a:custGeom>
              <a:avLst/>
              <a:gdLst/>
              <a:ahLst/>
              <a:cxnLst/>
              <a:rect l="l" t="t" r="r" b="b"/>
              <a:pathLst>
                <a:path w="95250" h="76200">
                  <a:moveTo>
                    <a:pt x="0" y="0"/>
                  </a:moveTo>
                  <a:lnTo>
                    <a:pt x="95250" y="381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5900738" y="2890838"/>
              <a:ext cx="741521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claim 下发 runs</a:t>
              </a:r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228600" y="5391150"/>
            <a:ext cx="11734800" cy="968216"/>
            <a:chOff x="228600" y="5391150"/>
            <a:chExt cx="11734800" cy="968216"/>
          </a:xfrm>
        </p:grpSpPr>
        <p:sp>
          <p:nvSpPr>
            <p:cNvPr id="82" name="Line 82"/>
            <p:cNvSpPr/>
            <p:nvPr/>
          </p:nvSpPr>
          <p:spPr>
            <a:xfrm>
              <a:off x="228600" y="5391150"/>
              <a:ext cx="11734800" cy="9525"/>
            </a:xfrm>
            <a:custGeom>
              <a:avLst/>
              <a:gdLst/>
              <a:ahLst/>
              <a:cxnLst/>
              <a:rect l="l" t="t" r="r" b="b"/>
              <a:pathLst>
                <a:path w="11734800" h="9525">
                  <a:moveTo>
                    <a:pt x="0" y="0"/>
                  </a:moveTo>
                  <a:lnTo>
                    <a:pt x="117348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300038" y="5503545"/>
              <a:ext cx="2639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通道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757238" y="5511641"/>
              <a:ext cx="758034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① ras-events（RAS→Insight）　② claim/心跳/停（FI Client↔Insight）　③ collect-result（FI Client→Insight）　④ Judge bridge（Insight 内→观测）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300038" y="5732145"/>
              <a:ext cx="54047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RAS 路径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042988" y="5740241"/>
              <a:ext cx="304395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装 RAS → 真实会话环内恢复 → 旁路上报 → /agent-ras/trace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6091238" y="5732145"/>
              <a:ext cx="43293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FI 路径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6757988" y="5740241"/>
              <a:ext cx="401325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装 FI Client → UI 建任务 → claim→注入采集→collect-result→Judge →（激活时④）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300038" y="6006941"/>
              <a:ext cx="8401050" cy="3524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8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关系：AgentRAS 与 AgentFI 无直接调用；同机可并存、挂点不同；经 Insight 观测面汇聚。</a:t>
              </a:r>
            </a:p>
            <a:p>
              <a:pPr algn="l">
                <a:lnSpc>
                  <a:spcPts val="1500"/>
                </a:lnSpc>
              </a:pPr>
              <a:r>
                <a:rPr lang="zh-CN" sz="75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包名对照：AgentInsight ≈ agent-insight·AgentRAS ≈ agent-ras·AgentFI ≈ agent_fault_injection + FI Client　真源：docs/agent-fault-injection/designs/ras-fi-insight-relationship.md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agent-insight-ras-fi-logic">
  <a:themeElements>
    <a:clrScheme name="agent-insight-ras-fi-logic">
      <a:dk1>
        <a:srgbClr val="334155"/>
      </a:dk1>
      <a:lt1>
        <a:srgbClr val="FFFFFF"/>
      </a:lt1>
      <a:dk2>
        <a:srgbClr val="1F497D"/>
      </a:dk2>
      <a:lt2>
        <a:srgbClr val="F8FAFC"/>
      </a:lt2>
      <a:accent1>
        <a:srgbClr val="0F172A"/>
      </a:accent1>
      <a:accent2>
        <a:srgbClr val="D97706"/>
      </a:accent2>
      <a:accent3>
        <a:srgbClr val="7C3AED"/>
      </a:accent3>
      <a:accent4>
        <a:srgbClr val="0F172A"/>
      </a:accent4>
      <a:accent5>
        <a:srgbClr val="059669"/>
      </a:accent5>
      <a:accent6>
        <a:srgbClr val="0891B2"/>
      </a:accent6>
      <a:hlink>
        <a:srgbClr val="D97706"/>
      </a:hlink>
      <a:folHlink>
        <a:srgbClr val="7C3AED"/>
      </a:folHlink>
    </a:clrScheme>
    <a:fontScheme name="agent-insight-ras-fi-logic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gent-insight-ras-fi-logic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2026-08-05T07:48:10Z</dcterms:created>
  <dcterms:modified xsi:type="dcterms:W3CDTF">2026-08-05T07:48:10Z</dcterms:modified>
  <cp:category/>
  <cp:contentStatus/>
</cp:coreProperties>
</file>